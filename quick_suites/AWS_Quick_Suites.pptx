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50800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9900"/>
                </a:solidFill>
                <a:latin typeface="Arial"/>
              </a:rPr>
              <a:t>SESSION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76809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AWS Quick 服務總覽與</a:t>
            </a:r>
          </a:p>
          <a:p>
            <a:pPr algn="l">
              <a:lnSpc>
                <a:spcPct val="105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自動化工具比較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749807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9B8CE"/>
                </a:solidFill>
                <a:latin typeface="Arial"/>
              </a:rPr>
              <a:t>Amazon Quick Suite 服務地圖・自動化工具比較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8CE"/>
                </a:solidFill>
                <a:latin typeface="Arial"/>
              </a:rPr>
              <a:t>Ken ・ 2026/09/20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9900"/>
                </a:solidFill>
                <a:latin typeface="Arial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本次簡報議程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47472"/>
            <a:ext cx="50292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600"/>
              </a:spcAft>
            </a:pPr>
            <a:r>
              <a:rPr b="1" sz="1900">
                <a:solidFill>
                  <a:srgbClr val="FF9900"/>
                </a:solidFill>
                <a:latin typeface="Arial"/>
              </a:rPr>
              <a:t>●  Amazon Quick Suite 服務總覽：</a:t>
            </a:r>
            <a:r>
              <a:rPr sz="1900">
                <a:solidFill>
                  <a:srgbClr val="F5F7FA"/>
                </a:solidFill>
                <a:latin typeface="Arial"/>
              </a:rPr>
              <a:t>2026 品牌重整背景與六大服務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b="1" sz="1900">
                <a:solidFill>
                  <a:srgbClr val="FF9900"/>
                </a:solidFill>
                <a:latin typeface="Arial"/>
              </a:rPr>
              <a:t>●  服務深探：</a:t>
            </a:r>
            <a:r>
              <a:rPr sz="1900">
                <a:solidFill>
                  <a:srgbClr val="F5F7FA"/>
                </a:solidFill>
                <a:latin typeface="Arial"/>
              </a:rPr>
              <a:t>各服務的適用情境、成功案例與使用限制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b="1" sz="1900">
                <a:solidFill>
                  <a:srgbClr val="FF9900"/>
                </a:solidFill>
                <a:latin typeface="Arial"/>
              </a:rPr>
              <a:t>●  深度比較：</a:t>
            </a:r>
            <a:r>
              <a:rPr sz="1900">
                <a:solidFill>
                  <a:srgbClr val="F5F7FA"/>
                </a:solidFill>
                <a:latin typeface="Arial"/>
              </a:rPr>
              <a:t>Quick Automate vs. Quick Flows vs. AWS Step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9B8CE"/>
                </a:solidFill>
                <a:latin typeface="Arial"/>
              </a:rPr>
              <a:t>Ken ・ 2026/09/20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A9B8CE"/>
                </a:solidFill>
                <a:latin typeface="Arial"/>
              </a:rPr>
              <a:t>2/14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9900"/>
                </a:solidFill>
                <a:latin typeface="Arial"/>
              </a:rPr>
              <a:t>PART 1・背景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Amazon Quick Suite 是什麼？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47472"/>
            <a:ext cx="50292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600"/>
              </a:spcAft>
            </a:pPr>
            <a:r>
              <a:rPr b="1" sz="1900">
                <a:solidFill>
                  <a:srgbClr val="FF9900"/>
                </a:solidFill>
                <a:latin typeface="Arial"/>
              </a:rPr>
              <a:t>●  2026 年品牌重整：</a:t>
            </a:r>
            <a:r>
              <a:rPr sz="1900">
                <a:solidFill>
                  <a:srgbClr val="F5F7FA"/>
                </a:solidFill>
                <a:latin typeface="Arial"/>
              </a:rPr>
              <a:t>AWS 把原本分散的 AI／分析產品整合成新品牌傘 Amazon Quick Suite（由 Amazon Q 重新命名整合而來）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b="1" sz="1900">
                <a:solidFill>
                  <a:srgbClr val="FF9900"/>
                </a:solidFill>
                <a:latin typeface="Arial"/>
              </a:rPr>
              <a:t>●  QuickSight 平順演進：</a:t>
            </a:r>
            <a:r>
              <a:rPr sz="1900">
                <a:solidFill>
                  <a:srgbClr val="F5F7FA"/>
                </a:solidFill>
                <a:latin typeface="Arial"/>
              </a:rPr>
              <a:t>QuickSight 成為 Amazon Quick Sight，既有 API／SDK／整合方式維持不變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b="1" sz="1900">
                <a:solidFill>
                  <a:srgbClr val="FF9900"/>
                </a:solidFill>
                <a:latin typeface="Arial"/>
              </a:rPr>
              <a:t>●  整合目標：</a:t>
            </a:r>
            <a:r>
              <a:rPr sz="1900">
                <a:solidFill>
                  <a:srgbClr val="F5F7FA"/>
                </a:solidFill>
                <a:latin typeface="Arial"/>
              </a:rPr>
              <a:t>把 AI agent、研究、自動化、分析、應用程式建置整合成單一平台，取代過去分散多產品的作法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b="1" sz="1900">
                <a:solidFill>
                  <a:srgbClr val="FF9900"/>
                </a:solidFill>
                <a:latin typeface="Arial"/>
              </a:rPr>
              <a:t>●  容易混淆提醒：</a:t>
            </a:r>
            <a:r>
              <a:rPr sz="1900">
                <a:solidFill>
                  <a:srgbClr val="F5F7FA"/>
                </a:solidFill>
                <a:latin typeface="Arial"/>
              </a:rPr>
              <a:t>與舊有「AWS Quick Start」（CloudFormation 部署範本）、Systems Manager「Quick Setup」是完全不同的東西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9B8CE"/>
                </a:solidFill>
                <a:latin typeface="Arial"/>
              </a:rPr>
              <a:t>Ken ・ 2026/09/20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A9B8CE"/>
                </a:solidFill>
                <a:latin typeface="Arial"/>
              </a:rPr>
              <a:t>3/14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9900"/>
                </a:solidFill>
                <a:latin typeface="Arial"/>
              </a:rPr>
              <a:t>PART 1・全貌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六大服務一覽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47472"/>
            <a:ext cx="50292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91671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27501"/>
                <a:gridCol w="7764170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>服務</a:t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>一句話說明</a:t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9900"/>
                          </a:solidFill>
                          <a:latin typeface="Arial"/>
                        </a:rPr>
                        <a:t>Amazon Quick Sight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互動式資料視覺化與 BI，前身為 Amazon QuickSight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9900"/>
                          </a:solidFill>
                          <a:latin typeface="Arial"/>
                        </a:rPr>
                        <a:t>Amazon Quick Automate</a:t>
                      </a:r>
                    </a:p>
                  </a:txBody>
                  <a:tcPr marL="109728" marR="109728" marT="73152" marB="73152" anchor="ctr">
                    <a:solidFill>
                      <a:srgbClr val="0F24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AI agent 編排企業級、端到端跨系統業務流程</a:t>
                      </a:r>
                    </a:p>
                  </a:txBody>
                  <a:tcPr marL="109728" marR="109728" marT="73152" marB="73152" anchor="ctr">
                    <a:solidFill>
                      <a:srgbClr val="0F244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9900"/>
                          </a:solidFill>
                          <a:latin typeface="Arial"/>
                        </a:rPr>
                        <a:t>Amazon Quick Flows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個人／團隊層級的 AI 驅動工作流程自動化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9900"/>
                          </a:solidFill>
                          <a:latin typeface="Arial"/>
                        </a:rPr>
                        <a:t>Amazon Quick Index</a:t>
                      </a:r>
                    </a:p>
                  </a:txBody>
                  <a:tcPr marL="109728" marR="109728" marT="73152" marB="73152" anchor="ctr">
                    <a:solidFill>
                      <a:srgbClr val="0F24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連接企業內部資料，作為 AI 回答的 grounding 索引層</a:t>
                      </a:r>
                    </a:p>
                  </a:txBody>
                  <a:tcPr marL="109728" marR="109728" marT="73152" marB="73152" anchor="ctr">
                    <a:solidFill>
                      <a:srgbClr val="0F244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9900"/>
                          </a:solidFill>
                          <a:latin typeface="Arial"/>
                        </a:rPr>
                        <a:t>Amazon Quick Research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跨網路與內部資料的深度研究，產出附引用來源報告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9900"/>
                          </a:solidFill>
                          <a:latin typeface="Arial"/>
                        </a:rPr>
                        <a:t>Apps in Amazon Quick</a:t>
                      </a:r>
                    </a:p>
                  </a:txBody>
                  <a:tcPr marL="109728" marR="109728" marT="73152" marB="73152" anchor="ctr">
                    <a:solidFill>
                      <a:srgbClr val="0F24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用自然語言描述需求，免寫程式碼建立互動式網頁應用</a:t>
                      </a:r>
                    </a:p>
                  </a:txBody>
                  <a:tcPr marL="109728" marR="109728" marT="73152" marB="73152" anchor="ctr">
                    <a:solidFill>
                      <a:srgbClr val="0F244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9B8CE"/>
                </a:solidFill>
                <a:latin typeface="Arial"/>
              </a:rPr>
              <a:t>Ken ・ 2026/09/20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A9B8CE"/>
                </a:solidFill>
                <a:latin typeface="Arial"/>
              </a:rPr>
              <a:t>4/14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9900"/>
                </a:solidFill>
                <a:latin typeface="Arial"/>
              </a:rPr>
              <a:t>PART 2・適用情境與案例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適用情境與成功案例：Sight ／ Automate ／ 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47472"/>
            <a:ext cx="50292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91670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18334"/>
                <a:gridCol w="3993001"/>
                <a:gridCol w="4880335"/>
              </a:tblGrid>
              <a:tr h="11201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>服務</a:t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>適用情境</a:t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>成功案例</a:t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</a:tr>
              <a:tr h="11201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9900"/>
                          </a:solidFill>
                          <a:latin typeface="Arial"/>
                        </a:rPr>
                        <a:t>Quick Sight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BI 儀表板、嵌入式分析、即時大量資料報表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Mindex 客戶：手動 Excel 彙整 flash report → 互動儀表板＋自動 PDF 報表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</a:tr>
              <a:tr h="11201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9900"/>
                          </a:solidFill>
                          <a:latin typeface="Arial"/>
                        </a:rPr>
                        <a:t>Quick Automate</a:t>
                      </a:r>
                    </a:p>
                  </a:txBody>
                  <a:tcPr marL="109728" marR="109728" marT="73152" marB="73152" anchor="ctr">
                    <a:solidFill>
                      <a:srgbClr val="0F24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需 agent 判斷並跨系統執行動作的企業流程</a:t>
                      </a:r>
                    </a:p>
                  </a:txBody>
                  <a:tcPr marL="109728" marR="109728" marT="73152" marB="73152" anchor="ctr">
                    <a:solidFill>
                      <a:srgbClr val="0F24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dLocal 合規審查自動化：75% 商戶審查案件全自動完成，無需人工</a:t>
                      </a:r>
                    </a:p>
                  </a:txBody>
                  <a:tcPr marL="109728" marR="109728" marT="73152" marB="73152" anchor="ctr">
                    <a:solidFill>
                      <a:srgbClr val="0F2442"/>
                    </a:solidFill>
                  </a:tcPr>
                </a:tc>
              </a:tr>
              <a:tr h="11201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9900"/>
                          </a:solidFill>
                          <a:latin typeface="Arial"/>
                        </a:rPr>
                        <a:t>Quick Flows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排程性、重複性的多步驟工作流程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AWS 財務團隊：情境模擬從 6 小時縮短到 10 分鐘，週報自動化上線前就緒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9B8CE"/>
                </a:solidFill>
                <a:latin typeface="Arial"/>
              </a:rPr>
              <a:t>Ken ・ 2026/09/20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A9B8CE"/>
                </a:solidFill>
                <a:latin typeface="Arial"/>
              </a:rPr>
              <a:t>5/14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9900"/>
                </a:solidFill>
                <a:latin typeface="Arial"/>
              </a:rPr>
              <a:t>PART 2・適用情境與案例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適用情境與成功案例：Index ／ Research ／ Apps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47472"/>
            <a:ext cx="50292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91670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18334"/>
                <a:gridCol w="3993001"/>
                <a:gridCol w="4880335"/>
              </a:tblGrid>
              <a:tr h="11201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>服務</a:t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>適用情境</a:t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>成功案例</a:t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</a:tr>
              <a:tr h="11201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9900"/>
                          </a:solidFill>
                          <a:latin typeface="Arial"/>
                        </a:rPr>
                        <a:t>Quick Index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企業文件 grounding、跨部門資訊查詢與彙整摘要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官方範例：跨州政策問答、跨系統 WBR＋銷售更新一頁式彙整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</a:tr>
              <a:tr h="11201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9900"/>
                          </a:solidFill>
                          <a:latin typeface="Arial"/>
                        </a:rPr>
                        <a:t>Quick Research</a:t>
                      </a:r>
                    </a:p>
                  </a:txBody>
                  <a:tcPr marL="109728" marR="109728" marT="73152" marB="73152" anchor="ctr">
                    <a:solidFill>
                      <a:srgbClr val="0F24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市場情報、風險合規（專利／盡職調查）、客戶洞察</a:t>
                      </a:r>
                    </a:p>
                  </a:txBody>
                  <a:tcPr marL="109728" marR="109728" marT="73152" marB="73152" anchor="ctr">
                    <a:solidFill>
                      <a:srgbClr val="0F24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結合企業內部資料（SharePoint／Drive／Snowflake）＋200+ 家媒體＋第三方資料集</a:t>
                      </a:r>
                    </a:p>
                  </a:txBody>
                  <a:tcPr marL="109728" marR="109728" marT="73152" marB="73152" anchor="ctr">
                    <a:solidFill>
                      <a:srgbClr val="0F2442"/>
                    </a:solidFill>
                  </a:tcPr>
                </a:tc>
              </a:tr>
              <a:tr h="11201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9900"/>
                          </a:solidFill>
                          <a:latin typeface="Arial"/>
                        </a:rPr>
                        <a:t>Apps in Quick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免程式碼快速建立內部小型互動工具、原型驗證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目前公開資料以功能說明為主，尚未查到具名企業量化成功案例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9B8CE"/>
                </a:solidFill>
                <a:latin typeface="Arial"/>
              </a:rPr>
              <a:t>Ken ・ 2026/09/20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A9B8CE"/>
                </a:solidFill>
                <a:latin typeface="Arial"/>
              </a:rPr>
              <a:t>6/14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9900"/>
                </a:solidFill>
                <a:latin typeface="Arial"/>
              </a:rPr>
              <a:t>PART 2・使用限制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使用限制：Sight ／ Automate ／ 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47472"/>
            <a:ext cx="50292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91671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2001"/>
                <a:gridCol w="8429670"/>
              </a:tblGrid>
              <a:tr h="11201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>服務</a:t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>主要限制</a:t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</a:tr>
              <a:tr h="11201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9900"/>
                          </a:solidFill>
                          <a:latin typeface="Arial"/>
                        </a:rPr>
                        <a:t>Quick Sight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本身不含 agent 自動化能力，需搭配 Quick Automate／Flows 才能「執行動作」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</a:tr>
              <a:tr h="11201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9900"/>
                          </a:solidFill>
                          <a:latin typeface="Arial"/>
                        </a:rPr>
                        <a:t>Quick Automate</a:t>
                      </a:r>
                    </a:p>
                  </a:txBody>
                  <a:tcPr marL="109728" marR="109728" marT="73152" marB="73152" anchor="ctr">
                    <a:solidFill>
                      <a:srgbClr val="0F24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不開放 Free／Plus 帳號；模糊／高風險案例仍需人工覆核，非 100% 全自動</a:t>
                      </a:r>
                    </a:p>
                  </a:txBody>
                  <a:tcPr marL="109728" marR="109728" marT="73152" marB="73152" anchor="ctr">
                    <a:solidFill>
                      <a:srgbClr val="0F2442"/>
                    </a:solidFill>
                  </a:tcPr>
                </a:tc>
              </a:tr>
              <a:tr h="11201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9900"/>
                          </a:solidFill>
                          <a:latin typeface="Arial"/>
                        </a:rPr>
                        <a:t>Quick Flows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單一 instance 上限 10,000 個 flow、單人 100 個、單一 flow 35 步驟；排程每人上限 20 個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9B8CE"/>
                </a:solidFill>
                <a:latin typeface="Arial"/>
              </a:rPr>
              <a:t>Ken ・ 2026/09/20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A9B8CE"/>
                </a:solidFill>
                <a:latin typeface="Arial"/>
              </a:rPr>
              <a:t>7/14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9900"/>
                </a:solidFill>
                <a:latin typeface="Arial"/>
              </a:rPr>
              <a:t>PART 2・使用限制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使用限制：Index ／ Research ／ Apps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47472"/>
            <a:ext cx="50292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91671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2001"/>
                <a:gridCol w="8429670"/>
              </a:tblGrid>
              <a:tr h="11201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>服務</a:t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>主要限制</a:t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</a:tr>
              <a:tr h="11201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9900"/>
                          </a:solidFill>
                          <a:latin typeface="Arial"/>
                        </a:rPr>
                        <a:t>Quick Index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每個 Region 最多只能連接 2 個 Amazon Q Business index，且此配額無法提高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</a:tr>
              <a:tr h="11201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9900"/>
                          </a:solidFill>
                          <a:latin typeface="Arial"/>
                        </a:rPr>
                        <a:t>Quick Research</a:t>
                      </a:r>
                    </a:p>
                  </a:txBody>
                  <a:tcPr marL="109728" marR="109728" marT="73152" marB="73152" anchor="ctr">
                    <a:solidFill>
                      <a:srgbClr val="0F24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官方強調研究過程仍需人類專業判斷，較適合人機協作迭代，非全自動決策工具</a:t>
                      </a:r>
                    </a:p>
                  </a:txBody>
                  <a:tcPr marL="109728" marR="109728" marT="73152" marB="73152" anchor="ctr">
                    <a:solidFill>
                      <a:srgbClr val="0F2442"/>
                    </a:solidFill>
                  </a:tcPr>
                </a:tc>
              </a:tr>
              <a:tr h="11201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9900"/>
                          </a:solidFill>
                          <a:latin typeface="Arial"/>
                        </a:rPr>
                        <a:t>Apps in Quick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不可下載 app 原始碼；每 app 最多 8 個視覺元件；僅限 4 個區域；公開分享功能受限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9B8CE"/>
                </a:solidFill>
                <a:latin typeface="Arial"/>
              </a:rPr>
              <a:t>Ken ・ 2026/09/20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A9B8CE"/>
                </a:solidFill>
                <a:latin typeface="Arial"/>
              </a:rPr>
              <a:t>8/14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9900"/>
                </a:solidFill>
                <a:latin typeface="Arial"/>
              </a:rPr>
              <a:t>PART 3・三方比較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主要目的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47472"/>
            <a:ext cx="50292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91671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4667"/>
                <a:gridCol w="3105668"/>
                <a:gridCol w="3105668"/>
                <a:gridCol w="3105668"/>
              </a:tblGrid>
              <a:tr h="22402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>Quick Automate</a:t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>Quick Flows</a:t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>Step Functions</a:t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</a:tr>
              <a:tr h="22402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9900"/>
                          </a:solidFill>
                          <a:latin typeface="Arial"/>
                        </a:rPr>
                        <a:t>主要目的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AI agent 編排企業級、跨部門端到端業務流程（no-code）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個人／團隊層級的輕量 AI 工作流程自動化（no-code）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AWS 原生無伺服器服務編排，協調多個 AWS 服務狀態轉移（需寫程式碼／IaC）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9B8CE"/>
                </a:solidFill>
                <a:latin typeface="Arial"/>
              </a:rPr>
              <a:t>Ken ・ 2026/09/20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A9B8CE"/>
                </a:solidFill>
                <a:latin typeface="Arial"/>
              </a:rPr>
              <a:t>9/14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9900"/>
                </a:solidFill>
                <a:latin typeface="Arial"/>
              </a:rPr>
              <a:t>PART 3・三方比較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最佳適用情境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47472"/>
            <a:ext cx="50292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91671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4667"/>
                <a:gridCol w="3105668"/>
                <a:gridCol w="3105668"/>
                <a:gridCol w="3105668"/>
              </a:tblGrid>
              <a:tr h="22402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>Quick Automate</a:t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>Quick Flows</a:t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>Step Functions</a:t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</a:tr>
              <a:tr h="22402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9900"/>
                          </a:solidFill>
                          <a:latin typeface="Arial"/>
                        </a:rPr>
                        <a:t>最佳適用情境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企業規模、長時間、高交易量流程：貸款審核、發票處理、供應商合規驗證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個人／團隊短時間重複任務：週報、草擬內容、自動回覆工單、資料前處理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精確編排多雲端服務呼叫、長時間執行（最長 1 年）或高並發（Express+Distributed Map 最多 1 萬並行）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9B8CE"/>
                </a:solidFill>
                <a:latin typeface="Arial"/>
              </a:rPr>
              <a:t>Ken ・ 2026/09/20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A9B8CE"/>
                </a:solidFill>
                <a:latin typeface="Arial"/>
              </a:rPr>
              <a:t>10/14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9900"/>
                </a:solidFill>
                <a:latin typeface="Arial"/>
              </a:rPr>
              <a:t>PART 3・三方比較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使用限制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47472"/>
            <a:ext cx="50292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91671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4667"/>
                <a:gridCol w="3105668"/>
                <a:gridCol w="3105668"/>
                <a:gridCol w="3105668"/>
              </a:tblGrid>
              <a:tr h="22402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>Quick Automate</a:t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>Quick Flows</a:t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>Step Functions</a:t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</a:tr>
              <a:tr h="22402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9900"/>
                          </a:solidFill>
                          <a:latin typeface="Arial"/>
                        </a:rPr>
                        <a:t>使用限制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不開放 Free／Plus 帳號；高風險案例仍需人工覆核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10,000 flow／instance、35 步驟／flow、排程每人 20 個等平台上限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State machine 定義上限 1MB；單次資料傳遞上限 256KiB；Express 執行時間上限 5 分鐘；Standard 執行歷史硬限制 25,000 筆事件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9B8CE"/>
                </a:solidFill>
                <a:latin typeface="Arial"/>
              </a:rPr>
              <a:t>Ken ・ 2026/09/20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A9B8CE"/>
                </a:solidFill>
                <a:latin typeface="Arial"/>
              </a:rPr>
              <a:t>11/14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9900"/>
                </a:solidFill>
                <a:latin typeface="Arial"/>
              </a:rPr>
              <a:t>PART 3・三方比較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不適合使用的情況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47472"/>
            <a:ext cx="50292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91671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4667"/>
                <a:gridCol w="3105668"/>
                <a:gridCol w="3105668"/>
                <a:gridCol w="3105668"/>
              </a:tblGrid>
              <a:tr h="22402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>Quick Automate</a:t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>Quick Flows</a:t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7FA"/>
                          </a:solidFill>
                          <a:latin typeface="Arial"/>
                        </a:rPr>
                        <a:t>Step Functions</a:t>
                      </a:r>
                    </a:p>
                  </a:txBody>
                  <a:tcPr marL="109728" marR="109728" marT="73152" marB="73152" anchor="ctr">
                    <a:solidFill>
                      <a:srgbClr val="1B3A63"/>
                    </a:solidFill>
                  </a:tcPr>
                </a:tc>
              </a:tr>
              <a:tr h="22402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9900"/>
                          </a:solidFill>
                          <a:latin typeface="Arial"/>
                        </a:rPr>
                        <a:t>不適合情況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單純、輕量、個人層級小任務；完全無人監督的高風險最終決策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企業規模、跨部門、需嚴謹案件管理與錯誤處理的複雜長流程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  <a:latin typeface="Arial"/>
                        </a:rPr>
                        <a:t>需要業務人員用自然語言直接建立（非 no-code）；資料量超 256KiB 又不想接 S3 中轉</a:t>
                      </a:r>
                    </a:p>
                  </a:txBody>
                  <a:tcPr marL="109728" marR="109728" marT="73152" marB="73152" anchor="ctr">
                    <a:solidFill>
                      <a:srgbClr val="0B1F3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9B8CE"/>
                </a:solidFill>
                <a:latin typeface="Arial"/>
              </a:rPr>
              <a:t>Ken ・ 2026/09/20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A9B8CE"/>
                </a:solidFill>
                <a:latin typeface="Arial"/>
              </a:rPr>
              <a:t>12/14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9900"/>
                </a:solidFill>
                <a:latin typeface="Arial"/>
              </a:rPr>
              <a:t>PART 3・總結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三者定位一句話總結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47472"/>
            <a:ext cx="50292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600"/>
              </a:spcAft>
            </a:pPr>
            <a:r>
              <a:rPr b="1" sz="1900">
                <a:solidFill>
                  <a:srgbClr val="FF9900"/>
                </a:solidFill>
                <a:latin typeface="Arial"/>
              </a:rPr>
              <a:t>●  Quick Flows：</a:t>
            </a:r>
            <a:r>
              <a:rPr sz="1900">
                <a:solidFill>
                  <a:srgbClr val="F5F7FA"/>
                </a:solidFill>
                <a:latin typeface="Arial"/>
              </a:rPr>
              <a:t>給一般業務同仁用的「輕量個人自動化」，no-code、自然語言驅動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b="1" sz="1900">
                <a:solidFill>
                  <a:srgbClr val="FF9900"/>
                </a:solidFill>
                <a:latin typeface="Arial"/>
              </a:rPr>
              <a:t>●  Quick Automate：</a:t>
            </a:r>
            <a:r>
              <a:rPr sz="1900">
                <a:solidFill>
                  <a:srgbClr val="F5F7FA"/>
                </a:solidFill>
                <a:latin typeface="Arial"/>
              </a:rPr>
              <a:t>給 power user 用的「企業級 AI agent 流程編排」，no-code、自然語言驅動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b="1" sz="1900">
                <a:solidFill>
                  <a:srgbClr val="FF9900"/>
                </a:solidFill>
                <a:latin typeface="Arial"/>
              </a:rPr>
              <a:t>●  Step Functions：</a:t>
            </a:r>
            <a:r>
              <a:rPr sz="1900">
                <a:solidFill>
                  <a:srgbClr val="F5F7FA"/>
                </a:solidFill>
                <a:latin typeface="Arial"/>
              </a:rPr>
              <a:t>底層雲端架構服務，給工程團隊用程式碼精確控制 AWS 服務間的狀態機編排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b="1" sz="1900">
                <a:solidFill>
                  <a:srgbClr val="FF9900"/>
                </a:solidFill>
                <a:latin typeface="Arial"/>
              </a:rPr>
              <a:t>●  實務建議：</a:t>
            </a:r>
            <a:r>
              <a:rPr sz="1900">
                <a:solidFill>
                  <a:srgbClr val="F5F7FA"/>
                </a:solidFill>
                <a:latin typeface="Arial"/>
              </a:rPr>
              <a:t>業務層 AI 決策交給 Quick Automate／Flows，系統間精準、大規模、長時間編排交給 Step Functions，三者互補而非互斥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9B8CE"/>
                </a:solidFill>
                <a:latin typeface="Arial"/>
              </a:rPr>
              <a:t>Ken ・ 2026/09/20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A9B8CE"/>
                </a:solidFill>
                <a:latin typeface="Arial"/>
              </a:rPr>
              <a:t>13/14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9900"/>
                </a:solidFill>
                <a:latin typeface="Arial"/>
              </a:rPr>
              <a:t>總結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重點回顧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93192"/>
            <a:ext cx="50292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607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900">
                <a:solidFill>
                  <a:srgbClr val="F5F7FA"/>
                </a:solidFill>
                <a:latin typeface="Arial"/>
              </a:rPr>
              <a:t>●  Amazon Quick Suite 已整合成六大服務，涵蓋 BI、agent 自動化、輕量流程、企業知識庫、深度研究、免碼應用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b="1" sz="1900">
                <a:solidFill>
                  <a:srgbClr val="FF9900"/>
                </a:solidFill>
                <a:latin typeface="Arial"/>
              </a:rPr>
              <a:t>●  自動化工具選型：</a:t>
            </a:r>
            <a:r>
              <a:rPr sz="1900">
                <a:solidFill>
                  <a:srgbClr val="F5F7FA"/>
                </a:solidFill>
                <a:latin typeface="Arial"/>
              </a:rPr>
              <a:t>個人任務用 Quick Flows、企業級 agent 流程用 Quick Automate、底層系統編排用 Step Functions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b="1" sz="1900">
                <a:solidFill>
                  <a:srgbClr val="FF9900"/>
                </a:solidFill>
                <a:latin typeface="Arial"/>
              </a:rPr>
              <a:t>●  三者互補而非互斥：</a:t>
            </a:r>
            <a:r>
              <a:rPr sz="1900">
                <a:solidFill>
                  <a:srgbClr val="F5F7FA"/>
                </a:solidFill>
                <a:latin typeface="Arial"/>
              </a:rPr>
              <a:t>業務層 AI 決策交給 Quick Automate／Flows，系統間精準、大規模、長時間編排交給 Step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9900"/>
                </a:solidFill>
                <a:latin typeface="Arial"/>
              </a:rPr>
              <a:t>簡報／RWD HTML／README 三份檔案內容互相對應，來源同一份資料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9B8CE"/>
                </a:solidFill>
                <a:latin typeface="Arial"/>
              </a:rPr>
              <a:t>Ken ・ 2026/09/20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A9B8CE"/>
                </a:solidFill>
                <a:latin typeface="Arial"/>
              </a:rPr>
              <a:t>14/14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